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-677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B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961120" y="5303520"/>
            <a:ext cx="3200400" cy="1554480"/>
          </a:xfrm>
          <a:prstGeom prst="rect">
            <a:avLst/>
          </a:prstGeom>
          <a:solidFill>
            <a:srgbClr val="236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92640" y="4709160"/>
            <a:ext cx="2468880" cy="1554480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7B7D2"/>
                </a:solidFill>
              </a:rPr>
              <a:t>HR ANALYTICS  |  FINAL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8961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500" b="1">
                <a:solidFill>
                  <a:srgbClr val="FFFFFF"/>
                </a:solidFill>
              </a:rPr>
              <a:t>Employee Attrition
Prediction &amp; Retention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79476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D2E1ED"/>
                </a:solidFill>
              </a:rPr>
              <a:t>KPI Analysis • Risk Scoring • What-If Scenarios • Retention Strategies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470916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Prepared by: </a:t>
            </a:r>
            <a:r>
              <a:rPr lang="en-US" sz="1600" b="1" smtClean="0">
                <a:solidFill>
                  <a:srgbClr val="FFFFFF"/>
                </a:solidFill>
              </a:rPr>
              <a:t>K.B.</a:t>
            </a:r>
            <a:r>
              <a:rPr sz="1600" b="1" smtClean="0">
                <a:solidFill>
                  <a:srgbClr val="FFFFFF"/>
                </a:solidFill>
              </a:rPr>
              <a:t>Swetaa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6384" y="51389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4C8D7"/>
                </a:solidFill>
              </a:rPr>
              <a:t>Final HR Analytics Report | Power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06C78"/>
                </a:solidFill>
              </a:defRPr>
            </a:pPr>
            <a:r>
              <a:t>EMPLOYEE ATTRITION PREDICTION &amp; RETENTION REPORT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146304"/>
            <a:ext cx="73152" cy="384048"/>
          </a:xfrm>
          <a:prstGeom prst="rect">
            <a:avLst/>
          </a:prstGeom>
          <a:solidFill>
            <a:srgbClr val="37B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00584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828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37B7D2"/>
                </a:solidFill>
              </a:rPr>
              <a:t>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3383280" cy="4526280"/>
          </a:xfrm>
          <a:prstGeom prst="roundRect">
            <a:avLst/>
          </a:prstGeom>
          <a:solidFill>
            <a:srgbClr val="F1F6FA"/>
          </a:solidFill>
          <a:ln>
            <a:solidFill>
              <a:srgbClr val="E2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447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36CB4"/>
                </a:solidFill>
              </a:rPr>
              <a:t>PROJECT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743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C1C30"/>
                </a:solidFill>
              </a:rPr>
              <a:t>Analyze employee attrition patterns, identify elevated attrition risk, and support retention planning.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3980" y="386715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36CB4"/>
                </a:solidFill>
              </a:rPr>
              <a:t>ANALYSIS AREAS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204332"/>
            <a:ext cx="2651760" cy="1300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E2A35"/>
                </a:solidFill>
              </a:defRPr>
            </a:pPr>
            <a:r>
              <a:t>Department</a:t>
            </a:r>
          </a:p>
          <a:p>
            <a:pPr>
              <a:spcAft>
                <a:spcPts val="900"/>
              </a:spcAft>
              <a:defRPr sz="1400">
                <a:solidFill>
                  <a:srgbClr val="1E2A35"/>
                </a:solidFill>
              </a:defRPr>
            </a:pPr>
            <a:r>
              <a:t>Job Role</a:t>
            </a:r>
          </a:p>
          <a:p>
            <a:pPr>
              <a:spcAft>
                <a:spcPts val="900"/>
              </a:spcAft>
              <a:defRPr sz="1400">
                <a:solidFill>
                  <a:srgbClr val="1E2A35"/>
                </a:solidFill>
              </a:defRPr>
            </a:pPr>
            <a:r>
              <a:t>Tenure</a:t>
            </a:r>
          </a:p>
          <a:p>
            <a:pPr>
              <a:spcAft>
                <a:spcPts val="900"/>
              </a:spcAft>
              <a:defRPr sz="1400">
                <a:solidFill>
                  <a:srgbClr val="1E2A35"/>
                </a:solidFill>
              </a:defRPr>
            </a:pPr>
            <a:r>
              <a:rPr smtClean="0"/>
              <a:t>Performance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2984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89691"/>
                </a:solidFill>
              </a:rPr>
              <a:t>KEY PROJECT 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737360"/>
            <a:ext cx="7040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A35"/>
                </a:solidFill>
              </a:defRPr>
            </a:pPr>
            <a:r>
              <a:t>A rule-based Attrition Risk Score was developed using tenure, performance rating, salary position, overtime and training hours.</a:t>
            </a:r>
          </a:p>
          <a:p>
            <a:pPr>
              <a:spcAft>
                <a:spcPts val="1400"/>
              </a:spcAft>
              <a:defRPr sz="1800">
                <a:solidFill>
                  <a:srgbClr val="1E2A35"/>
                </a:solidFill>
              </a:defRPr>
            </a:pPr>
            <a:r>
              <a:t>The current dashboard identifies 3 employees in the High Risk category.</a:t>
            </a:r>
          </a:p>
          <a:p>
            <a:pPr>
              <a:spcAft>
                <a:spcPts val="1400"/>
              </a:spcAft>
              <a:defRPr sz="1800">
                <a:solidFill>
                  <a:srgbClr val="1E2A35"/>
                </a:solidFill>
              </a:defRPr>
            </a:pPr>
            <a:r>
              <a:t>Three What-If interventions were tested: Training Hours +20%, Low-Performer Salary +10%, and Overtime −30%.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5074920"/>
            <a:ext cx="2011680" cy="658368"/>
          </a:xfrm>
          <a:prstGeom prst="roundRect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518464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513892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HIGH-RISK
EMPLOYEES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06C78"/>
                </a:solidFill>
              </a:defRPr>
            </a:pPr>
            <a:r>
              <a:t>EMPLOYEE ATTRITION PREDICTION &amp; RETENTION REPORT  • 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75510" y="4250052"/>
            <a:ext cx="2072640" cy="1300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E2A35"/>
                </a:solidFill>
              </a:defRPr>
            </a:pPr>
            <a:r>
              <a:rPr lang="en-US" dirty="0" smtClean="0"/>
              <a:t>Overtime</a:t>
            </a:r>
          </a:p>
          <a:p>
            <a:pPr>
              <a:spcAft>
                <a:spcPts val="900"/>
              </a:spcAft>
              <a:defRPr sz="1400">
                <a:solidFill>
                  <a:srgbClr val="1E2A35"/>
                </a:solidFill>
              </a:defRPr>
            </a:pPr>
            <a:r>
              <a:rPr lang="en-US" dirty="0" smtClean="0"/>
              <a:t>Training</a:t>
            </a:r>
          </a:p>
          <a:p>
            <a:pPr>
              <a:spcAft>
                <a:spcPts val="900"/>
              </a:spcAft>
              <a:defRPr sz="1400">
                <a:solidFill>
                  <a:srgbClr val="1E2A35"/>
                </a:solidFill>
              </a:defRPr>
            </a:pPr>
            <a:r>
              <a:rPr lang="en-US" dirty="0" smtClean="0"/>
              <a:t>Salary</a:t>
            </a:r>
          </a:p>
          <a:p>
            <a:pPr>
              <a:spcAft>
                <a:spcPts val="900"/>
              </a:spcAft>
              <a:defRPr sz="1400">
                <a:solidFill>
                  <a:srgbClr val="1E2A35"/>
                </a:solidFill>
              </a:defRPr>
            </a:pPr>
            <a:r>
              <a:rPr lang="en-US" dirty="0" smtClean="0"/>
              <a:t>Gender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146304"/>
            <a:ext cx="73152" cy="384048"/>
          </a:xfrm>
          <a:prstGeom prst="rect">
            <a:avLst/>
          </a:prstGeom>
          <a:solidFill>
            <a:srgbClr val="37B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00584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Attrition Trends &amp;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828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37B7D2"/>
                </a:solidFill>
              </a:rPr>
              <a:t>KPIS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154680" cy="1325880"/>
          </a:xfrm>
          <a:prstGeom prst="roundRect">
            <a:avLst/>
          </a:prstGeom>
          <a:solidFill>
            <a:srgbClr val="F1F6FA"/>
          </a:solidFill>
          <a:ln>
            <a:solidFill>
              <a:srgbClr val="E2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73152" cy="1325880"/>
          </a:xfrm>
          <a:prstGeom prst="rect">
            <a:avLst/>
          </a:prstGeom>
          <a:solidFill>
            <a:srgbClr val="236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4904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C1C30"/>
                </a:solidFill>
              </a:rPr>
              <a:t>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039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06C78"/>
                </a:solidFill>
              </a:rPr>
              <a:t>TOTAL HEADCOUNT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234440"/>
            <a:ext cx="3154680" cy="1325880"/>
          </a:xfrm>
          <a:prstGeom prst="roundRect">
            <a:avLst/>
          </a:prstGeom>
          <a:solidFill>
            <a:srgbClr val="F1F6FA"/>
          </a:solidFill>
          <a:ln>
            <a:solidFill>
              <a:srgbClr val="E2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069080" y="1234440"/>
            <a:ext cx="73152" cy="1325880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25112" y="14904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C1C30"/>
                </a:solidFill>
              </a:rPr>
              <a:t>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2039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06C78"/>
                </a:solidFill>
              </a:rPr>
              <a:t>EMPLOYEES LEFT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234440"/>
            <a:ext cx="3154680" cy="1325880"/>
          </a:xfrm>
          <a:prstGeom prst="roundRect">
            <a:avLst/>
          </a:prstGeom>
          <a:solidFill>
            <a:srgbClr val="F1F6FA"/>
          </a:solidFill>
          <a:ln>
            <a:solidFill>
              <a:srgbClr val="E2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43800" y="1234440"/>
            <a:ext cx="73152" cy="1325880"/>
          </a:xfrm>
          <a:prstGeom prst="rect">
            <a:avLst/>
          </a:prstGeom>
          <a:solidFill>
            <a:srgbClr val="37B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99831" y="14904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C1C30"/>
                </a:solidFill>
              </a:rPr>
              <a:t>19.50%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9831" y="2039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06C78"/>
                </a:solidFill>
              </a:rPr>
              <a:t>ATTRITION 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971800"/>
            <a:ext cx="3154680" cy="1325880"/>
          </a:xfrm>
          <a:prstGeom prst="roundRect">
            <a:avLst/>
          </a:prstGeom>
          <a:solidFill>
            <a:srgbClr val="F1F6FA"/>
          </a:solidFill>
          <a:ln>
            <a:solidFill>
              <a:srgbClr val="E2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2971800"/>
            <a:ext cx="73152" cy="1325880"/>
          </a:xfrm>
          <a:prstGeom prst="rect">
            <a:avLst/>
          </a:prstGeom>
          <a:solidFill>
            <a:srgbClr val="236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32278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C1C30"/>
                </a:solidFill>
              </a:rPr>
              <a:t>4.28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7764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06C78"/>
                </a:solidFill>
              </a:rPr>
              <a:t>AVG. TENURE (YEARS)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69080" y="2971800"/>
            <a:ext cx="3154680" cy="1325880"/>
          </a:xfrm>
          <a:prstGeom prst="roundRect">
            <a:avLst/>
          </a:prstGeom>
          <a:solidFill>
            <a:srgbClr val="F1F6FA"/>
          </a:solidFill>
          <a:ln>
            <a:solidFill>
              <a:srgbClr val="E2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069080" y="2971800"/>
            <a:ext cx="73152" cy="1325880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5112" y="32278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C1C30"/>
                </a:solidFill>
              </a:rPr>
              <a:t>30.50%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37764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06C78"/>
                </a:solidFill>
              </a:rPr>
              <a:t>OVERTIME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2971800"/>
            <a:ext cx="3154680" cy="1325880"/>
          </a:xfrm>
          <a:prstGeom prst="roundRect">
            <a:avLst/>
          </a:prstGeom>
          <a:solidFill>
            <a:srgbClr val="F1F6FA"/>
          </a:solidFill>
          <a:ln>
            <a:solidFill>
              <a:srgbClr val="E2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543800" y="2971800"/>
            <a:ext cx="73152" cy="1325880"/>
          </a:xfrm>
          <a:prstGeom prst="rect">
            <a:avLst/>
          </a:prstGeom>
          <a:solidFill>
            <a:srgbClr val="37B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99831" y="32278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C1C30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9831" y="37764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06C78"/>
                </a:solidFill>
              </a:rPr>
              <a:t>HIGH-RISK EMPLOYEES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800600"/>
            <a:ext cx="10104120" cy="914400"/>
          </a:xfrm>
          <a:prstGeom prst="roundRect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499262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7B7D2"/>
                </a:solidFill>
              </a:rPr>
              <a:t>ADDITIONAL KPI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90118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Average Salary  ₹731.16K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490118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Average Performance Rating  3.22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4901184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Average Training Hours  15.90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06C78"/>
                </a:solidFill>
              </a:rPr>
              <a:t>Key observation: The workforce has a total headcount of 200 employees, with 39 employees recorded as having left.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06C78"/>
                </a:solidFill>
              </a:defRPr>
            </a:pPr>
            <a:r>
              <a:t>EMPLOYEE ATTRITION PREDICTION &amp; RETENTION REPORT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146304"/>
            <a:ext cx="73152" cy="384048"/>
          </a:xfrm>
          <a:prstGeom prst="rect">
            <a:avLst/>
          </a:prstGeom>
          <a:solidFill>
            <a:srgbClr val="37B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00584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Department &amp; Demographic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828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37B7D2"/>
                </a:solidFill>
              </a:rPr>
              <a:t>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337560" cy="1572768"/>
          </a:xfrm>
          <a:prstGeom prst="roundRect">
            <a:avLst/>
          </a:prstGeom>
          <a:solidFill>
            <a:srgbClr val="F1F6FA"/>
          </a:solidFill>
          <a:ln>
            <a:solidFill>
              <a:srgbClr val="E2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36CB4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562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C1C30"/>
                </a:solidFill>
              </a:rPr>
              <a:t>Attrition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06C78"/>
                </a:solidFill>
              </a:rPr>
              <a:t>by Department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234440"/>
            <a:ext cx="3337560" cy="1572768"/>
          </a:xfrm>
          <a:prstGeom prst="roundRect">
            <a:avLst/>
          </a:prstGeom>
          <a:solidFill>
            <a:srgbClr val="F1F6FA"/>
          </a:solidFill>
          <a:ln>
            <a:solidFill>
              <a:srgbClr val="E2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36CB4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8562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C1C30"/>
                </a:solidFill>
              </a:rPr>
              <a:t>Attrition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06C78"/>
                </a:solidFill>
              </a:rPr>
              <a:t>by Job Role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234440"/>
            <a:ext cx="3337560" cy="1572768"/>
          </a:xfrm>
          <a:prstGeom prst="roundRect">
            <a:avLst/>
          </a:prstGeom>
          <a:solidFill>
            <a:srgbClr val="F1F6FA"/>
          </a:solidFill>
          <a:ln>
            <a:solidFill>
              <a:srgbClr val="E2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36CB4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18562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C1C30"/>
                </a:solidFill>
              </a:rPr>
              <a:t>Attrition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06C78"/>
                </a:solidFill>
              </a:rPr>
              <a:t>by Gender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00400"/>
            <a:ext cx="3337560" cy="1572768"/>
          </a:xfrm>
          <a:prstGeom prst="roundRect">
            <a:avLst/>
          </a:prstGeom>
          <a:solidFill>
            <a:srgbClr val="F1F6FA"/>
          </a:solidFill>
          <a:ln>
            <a:solidFill>
              <a:srgbClr val="E2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4107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36CB4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2219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C1C30"/>
                </a:solidFill>
              </a:rPr>
              <a:t>Attrition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06C78"/>
                </a:solidFill>
              </a:rPr>
              <a:t>by Tenure Group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200400"/>
            <a:ext cx="3337560" cy="1572768"/>
          </a:xfrm>
          <a:prstGeom prst="roundRect">
            <a:avLst/>
          </a:prstGeom>
          <a:solidFill>
            <a:srgbClr val="F1F6FA"/>
          </a:solidFill>
          <a:ln>
            <a:solidFill>
              <a:srgbClr val="E2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34107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36CB4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82219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C1C30"/>
                </a:solidFill>
              </a:rPr>
              <a:t>Attrition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06C78"/>
                </a:solidFill>
              </a:rPr>
              <a:t>by Performance Rating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200400"/>
            <a:ext cx="3337560" cy="1572768"/>
          </a:xfrm>
          <a:prstGeom prst="roundRect">
            <a:avLst/>
          </a:prstGeom>
          <a:solidFill>
            <a:srgbClr val="F1F6FA"/>
          </a:solidFill>
          <a:ln>
            <a:solidFill>
              <a:srgbClr val="E2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58200" y="34107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36CB4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82219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C1C30"/>
                </a:solidFill>
              </a:rPr>
              <a:t>Attrition 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06C78"/>
                </a:solidFill>
              </a:rPr>
              <a:t>by Overtime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349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89691"/>
                </a:solidFill>
              </a:rPr>
              <a:t>Key observation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303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A35"/>
                </a:solidFill>
              </a:rPr>
              <a:t>The analysis examines attrition across organizational, demographic and workforce characteristics to identify patterns associated with employee turnover.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06C78"/>
                </a:solidFill>
              </a:defRPr>
            </a:pPr>
            <a:r>
              <a:t>EMPLOYEE ATTRITION PREDICTION &amp; RETENTION REPORT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146304"/>
            <a:ext cx="73152" cy="384048"/>
          </a:xfrm>
          <a:prstGeom prst="rect">
            <a:avLst/>
          </a:prstGeom>
          <a:solidFill>
            <a:srgbClr val="37B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00584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High-Risk Employee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828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37B7D2"/>
                </a:solidFill>
              </a:rPr>
              <a:t>RISK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2743200" cy="1965960"/>
          </a:xfrm>
          <a:prstGeom prst="roundRect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447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7B7D2"/>
                </a:solidFill>
              </a:rPr>
              <a:t>HIGH-RISK THRESHOLD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≥ 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DCEB"/>
                </a:solidFill>
              </a:rPr>
              <a:t>Attrition Risk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83280"/>
            <a:ext cx="274320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E2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3657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36CB4"/>
                </a:solidFill>
              </a:rPr>
              <a:t>CURRENT HIGH-RISK 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977639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C1C30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89691"/>
                </a:solidFill>
              </a:rPr>
              <a:t>EMPLOYEES IDENTIFIED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1691640"/>
            <a:ext cx="7040880" cy="960120"/>
          </a:xfrm>
          <a:prstGeom prst="roundRect">
            <a:avLst/>
          </a:prstGeom>
          <a:solidFill>
            <a:srgbClr val="F1F6FA"/>
          </a:solidFill>
          <a:ln>
            <a:solidFill>
              <a:srgbClr val="E2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40" y="18928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36CB4"/>
                </a:solidFill>
              </a:rPr>
              <a:t>EMP019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18928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C1C30"/>
                </a:solidFill>
              </a:rPr>
              <a:t>Business Development Executive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18928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89169"/>
                </a:solidFill>
              </a:rPr>
              <a:t>HIGH 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2926080"/>
            <a:ext cx="7040880" cy="960120"/>
          </a:xfrm>
          <a:prstGeom prst="roundRect">
            <a:avLst/>
          </a:prstGeom>
          <a:solidFill>
            <a:srgbClr val="F1F6FA"/>
          </a:solidFill>
          <a:ln>
            <a:solidFill>
              <a:srgbClr val="E2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0" y="31272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36CB4"/>
                </a:solidFill>
              </a:rPr>
              <a:t>EMP079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31272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C1C30"/>
                </a:solidFill>
              </a:rPr>
              <a:t>HR Executive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31272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89169"/>
                </a:solidFill>
              </a:rPr>
              <a:t>HIGH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31920" y="4160520"/>
            <a:ext cx="7040880" cy="960120"/>
          </a:xfrm>
          <a:prstGeom prst="roundRect">
            <a:avLst/>
          </a:prstGeom>
          <a:solidFill>
            <a:srgbClr val="F1F6FA"/>
          </a:solidFill>
          <a:ln>
            <a:solidFill>
              <a:srgbClr val="E2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06240" y="43616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36CB4"/>
                </a:solidFill>
              </a:rPr>
              <a:t>EMP132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43616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C1C30"/>
                </a:solidFill>
              </a:rPr>
              <a:t>Finance Executive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4361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89169"/>
                </a:solidFill>
              </a:rPr>
              <a:t>HIGH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4406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89691"/>
                </a:solidFill>
              </a:rPr>
              <a:t>Interpretation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5367528"/>
            <a:ext cx="5897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A35"/>
                </a:solidFill>
              </a:rPr>
              <a:t>The rule-based risk model identifies three employees who fall within the High Risk category based on the combined risk factors used in the model.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06C78"/>
                </a:solidFill>
              </a:defRPr>
            </a:pPr>
            <a:r>
              <a:t>EMPLOYEE ATTRITION PREDICTION &amp; RETENTION REPORT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146304"/>
            <a:ext cx="73152" cy="384048"/>
          </a:xfrm>
          <a:prstGeom prst="rect">
            <a:avLst/>
          </a:prstGeom>
          <a:solidFill>
            <a:srgbClr val="37B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00584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What-If Scenario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828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37B7D2"/>
                </a:solidFill>
              </a:rPr>
              <a:t>SCENARIOS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234440"/>
          <a:ext cx="73152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297680"/>
                <a:gridCol w="1188720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Intervention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High-Risk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A35"/>
                          </a:solidFill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A35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A35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A35"/>
                          </a:solidFill>
                        </a:defRPr>
                      </a:pPr>
                      <a:r>
                        <a:t>Training +20%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A35"/>
                          </a:solidFill>
                        </a:defRPr>
                      </a:pPr>
                      <a:r>
                        <a:t>Increase training hours by 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A35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A35"/>
                          </a:solidFill>
                        </a:defRPr>
                      </a:pPr>
                      <a:r>
                        <a:t>Salary +10%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A35"/>
                          </a:solidFill>
                        </a:defRPr>
                      </a:pPr>
                      <a:r>
                        <a:t>Increase low-performer salary by 10%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A35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A35"/>
                          </a:solidFill>
                        </a:defRPr>
                      </a:pPr>
                      <a:r>
                        <a:t>Overtime −30%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A35"/>
                          </a:solidFill>
                        </a:defRPr>
                      </a:pPr>
                      <a:r>
                        <a:t>Reduce overtime by 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A35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234440"/>
            <a:ext cx="3246120" cy="3429000"/>
          </a:xfrm>
          <a:prstGeom prst="roundRect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49640" y="1600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7B7D2"/>
                </a:solidFill>
              </a:rPr>
              <a:t>MODEL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05740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697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High-Risk Employees
under each tested 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89691"/>
                </a:solidFill>
              </a:rPr>
              <a:t>KEY 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919472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A35"/>
                </a:solidFill>
              </a:rPr>
              <a:t>Under the current risk model, all three tested scenarios result in 3 High-Risk employees.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559552"/>
            <a:ext cx="10744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C78"/>
                </a:solidFill>
              </a:rPr>
              <a:t>The scenario analysis compares changes in the modelled risk score; an Attrition % reduction is not reported because the project model does not define a documented conversion from risk score to forecast attrition percentage.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06C78"/>
                </a:solidFill>
              </a:defRPr>
            </a:pPr>
            <a:r>
              <a:t>EMPLOYEE ATTRITION PREDICTION &amp; RETENTION REPORT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146304"/>
            <a:ext cx="73152" cy="384048"/>
          </a:xfrm>
          <a:prstGeom prst="rect">
            <a:avLst/>
          </a:prstGeom>
          <a:solidFill>
            <a:srgbClr val="37B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00584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Recommended Retention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828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37B7D2"/>
                </a:solidFill>
              </a:rPr>
              <a:t>ACTION AREAS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383280" cy="4160520"/>
          </a:xfrm>
          <a:prstGeom prst="roundRect">
            <a:avLst/>
          </a:prstGeom>
          <a:solidFill>
            <a:srgbClr val="F1F6FA"/>
          </a:solidFill>
          <a:ln>
            <a:solidFill>
              <a:srgbClr val="E2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3383280" cy="91440"/>
          </a:xfrm>
          <a:prstGeom prst="rect">
            <a:avLst/>
          </a:prstGeom>
          <a:solidFill>
            <a:srgbClr val="236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5361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36CB4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202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C1C30"/>
                </a:solidFill>
              </a:rPr>
              <a:t>Training &amp;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651760"/>
            <a:ext cx="2788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E2A35"/>
                </a:solidFill>
              </a:defRPr>
            </a:pPr>
            <a:r>
              <a:t>Review employees with low training hours.</a:t>
            </a:r>
          </a:p>
          <a:p>
            <a:pPr>
              <a:spcAft>
                <a:spcPts val="900"/>
              </a:spcAft>
              <a:defRPr sz="1400">
                <a:solidFill>
                  <a:srgbClr val="1E2A35"/>
                </a:solidFill>
              </a:defRPr>
            </a:pPr>
            <a:r>
              <a:t>Provide relevant learning and development opportunities.</a:t>
            </a:r>
          </a:p>
          <a:p>
            <a:pPr>
              <a:spcAft>
                <a:spcPts val="900"/>
              </a:spcAft>
              <a:defRPr sz="1400">
                <a:solidFill>
                  <a:srgbClr val="1E2A35"/>
                </a:solidFill>
              </a:defRPr>
            </a:pPr>
            <a:r>
              <a:t>Monitor training participation and related risk indicators.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34440"/>
            <a:ext cx="3383280" cy="4160520"/>
          </a:xfrm>
          <a:prstGeom prst="roundRect">
            <a:avLst/>
          </a:prstGeom>
          <a:solidFill>
            <a:srgbClr val="F1F6FA"/>
          </a:solidFill>
          <a:ln>
            <a:solidFill>
              <a:srgbClr val="E2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234440"/>
            <a:ext cx="3383280" cy="91440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15361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89691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19202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C1C30"/>
                </a:solidFill>
              </a:rPr>
              <a:t>Salary Benchmarking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651760"/>
            <a:ext cx="2788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E2A35"/>
                </a:solidFill>
              </a:defRPr>
            </a:pPr>
            <a:r>
              <a:t>Review salary positioning where relevant.</a:t>
            </a:r>
          </a:p>
          <a:p>
            <a:pPr>
              <a:spcAft>
                <a:spcPts val="900"/>
              </a:spcAft>
              <a:defRPr sz="1400">
                <a:solidFill>
                  <a:srgbClr val="1E2A35"/>
                </a:solidFill>
              </a:defRPr>
            </a:pPr>
            <a:r>
              <a:t>Compare compensation with department-level salary patterns.</a:t>
            </a:r>
          </a:p>
          <a:p>
            <a:pPr>
              <a:spcAft>
                <a:spcPts val="900"/>
              </a:spcAft>
              <a:defRPr sz="1400">
                <a:solidFill>
                  <a:srgbClr val="1E2A35"/>
                </a:solidFill>
              </a:defRPr>
            </a:pPr>
            <a:r>
              <a:t>Monitor changes in salary-related risk indicators.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234440"/>
            <a:ext cx="3383280" cy="4160520"/>
          </a:xfrm>
          <a:prstGeom prst="roundRect">
            <a:avLst/>
          </a:prstGeom>
          <a:solidFill>
            <a:srgbClr val="F1F6FA"/>
          </a:solidFill>
          <a:ln>
            <a:solidFill>
              <a:srgbClr val="E2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80" y="1234440"/>
            <a:ext cx="3383280" cy="91440"/>
          </a:xfrm>
          <a:prstGeom prst="rect">
            <a:avLst/>
          </a:prstGeom>
          <a:solidFill>
            <a:srgbClr val="37B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9912" y="15361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7B7D2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19202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C1C30"/>
                </a:solidFill>
              </a:rPr>
              <a:t>Workload Balancing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2651760"/>
            <a:ext cx="2788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E2A35"/>
                </a:solidFill>
              </a:defRPr>
            </a:pPr>
            <a:r>
              <a:t>Review overtime patterns.</a:t>
            </a:r>
          </a:p>
          <a:p>
            <a:pPr>
              <a:spcAft>
                <a:spcPts val="900"/>
              </a:spcAft>
              <a:defRPr sz="1400">
                <a:solidFill>
                  <a:srgbClr val="1E2A35"/>
                </a:solidFill>
              </a:defRPr>
            </a:pPr>
            <a:r>
              <a:t>Examine workload distribution.</a:t>
            </a:r>
          </a:p>
          <a:p>
            <a:pPr>
              <a:spcAft>
                <a:spcPts val="900"/>
              </a:spcAft>
              <a:defRPr sz="1400">
                <a:solidFill>
                  <a:srgbClr val="1E2A35"/>
                </a:solidFill>
              </a:defRPr>
            </a:pPr>
            <a:r>
              <a:t>Monitor overtime percentage and attrition patterns.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623560"/>
            <a:ext cx="10972800" cy="566928"/>
          </a:xfrm>
          <a:prstGeom prst="roundRect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751576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Overall approach: Use these interventions as supportive retention actions to evaluate, rather than as automatic decisions about individual employees.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06C78"/>
                </a:solidFill>
              </a:defRPr>
            </a:pPr>
            <a:r>
              <a:t>EMPLOYEE ATTRITION PREDICTION &amp; RETENTION REPORT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146304"/>
            <a:ext cx="73152" cy="384048"/>
          </a:xfrm>
          <a:prstGeom prst="rect">
            <a:avLst/>
          </a:prstGeom>
          <a:solidFill>
            <a:srgbClr val="37B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00584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828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37B7D2"/>
                </a:solidFill>
              </a:rPr>
              <a:t>KEY TAKEAWAYS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2286000" cy="1234440"/>
          </a:xfrm>
          <a:prstGeom prst="roundRect">
            <a:avLst/>
          </a:prstGeom>
          <a:solidFill>
            <a:srgbClr val="236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447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TOTAL HEADCOUNT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234440"/>
            <a:ext cx="2286000" cy="1234440"/>
          </a:xfrm>
          <a:prstGeom prst="round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14447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FFFFFF"/>
                </a:solidFill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385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EMPLOYEES LEFT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234440"/>
            <a:ext cx="2286000" cy="1234440"/>
          </a:xfrm>
          <a:prstGeom prst="roundRect">
            <a:avLst/>
          </a:prstGeom>
          <a:solidFill>
            <a:srgbClr val="37B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89320" y="144475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1C30"/>
                </a:solidFill>
              </a:rPr>
              <a:t>19.50%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93852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C1C30"/>
                </a:solidFill>
              </a:rPr>
              <a:t>ATTRITION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234440"/>
            <a:ext cx="2286000" cy="1234440"/>
          </a:xfrm>
          <a:prstGeom prst="roundRect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9640" y="14447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9385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HIGH-RISK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971800"/>
            <a:ext cx="10607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E2A35"/>
                </a:solidFill>
              </a:defRPr>
            </a:pPr>
            <a:r>
              <a:t>The dashboard provides a structured view of employee attrition and associated workforce risk indicators.</a:t>
            </a:r>
          </a:p>
          <a:p>
            <a:pPr>
              <a:spcAft>
                <a:spcPts val="900"/>
              </a:spcAft>
              <a:defRPr sz="1700">
                <a:solidFill>
                  <a:srgbClr val="1E2A35"/>
                </a:solidFill>
              </a:defRPr>
            </a:pPr>
            <a:r>
              <a:t>The rule-based model currently identifies 3 High-Risk employees.</a:t>
            </a:r>
          </a:p>
          <a:p>
            <a:pPr>
              <a:spcAft>
                <a:spcPts val="900"/>
              </a:spcAft>
              <a:defRPr sz="1700">
                <a:solidFill>
                  <a:srgbClr val="1E2A35"/>
                </a:solidFill>
              </a:defRPr>
            </a:pPr>
            <a:r>
              <a:t>Training, salary and overtime interventions were tested using What-If parameters.</a:t>
            </a:r>
          </a:p>
          <a:p>
            <a:pPr>
              <a:spcAft>
                <a:spcPts val="900"/>
              </a:spcAft>
              <a:defRPr sz="1700">
                <a:solidFill>
                  <a:srgbClr val="1E2A35"/>
                </a:solidFill>
              </a:defRPr>
            </a:pPr>
            <a:r>
              <a:t>All three tested scenarios currently show 3 High-Risk employees.</a:t>
            </a:r>
          </a:p>
          <a:p>
            <a:pPr>
              <a:spcAft>
                <a:spcPts val="900"/>
              </a:spcAft>
              <a:defRPr sz="1700">
                <a:solidFill>
                  <a:srgbClr val="1E2A35"/>
                </a:solidFill>
              </a:defRPr>
            </a:pPr>
            <a:r>
              <a:t>The analysis provides a basis for further HR review, retention planning and evaluation of supportive interventions.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06C78"/>
                </a:solidFill>
              </a:defRPr>
            </a:pPr>
            <a:r>
              <a:t>EMPLOYEE ATTRITION PREDICTION &amp; RETENTION REPORT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Swe\Pictures\Screenshots\Screenshot 2026-09-26 232815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" y="219075"/>
            <a:ext cx="12115800" cy="6419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Swe\Pictures\Screenshots\Screenshot 2026-09-26 232836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275" y="403225"/>
            <a:ext cx="12109450" cy="60515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Swe\Pictures\Screenshots\Screenshot 2026-09-26 2329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275" y="358775"/>
            <a:ext cx="12109450" cy="6140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639</Words>
  <Application>Microsoft Macintosh PowerPoint</Application>
  <PresentationFormat>Custom</PresentationFormat>
  <Paragraphs>148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Swe</cp:lastModifiedBy>
  <cp:revision>3</cp:revision>
  <dcterms:created xsi:type="dcterms:W3CDTF">2013-01-27T09:14:16Z</dcterms:created>
  <dcterms:modified xsi:type="dcterms:W3CDTF">2026-09-26T18:16:38Z</dcterms:modified>
  <cp:category/>
</cp:coreProperties>
</file>